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27432" cy="685800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84080" y="2331720"/>
            <a:ext cx="2011680" cy="2606040"/>
          </a:xfrm>
          <a:prstGeom prst="roundRect">
            <a:avLst>
              <a:gd name="adj" fmla="val 5000"/>
            </a:avLst>
          </a:prstGeom>
          <a:solidFill>
            <a:srgbClr val="2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28632" y="2148840"/>
            <a:ext cx="2011680" cy="2606040"/>
          </a:xfrm>
          <a:prstGeom prst="roundRect">
            <a:avLst>
              <a:gd name="adj" fmla="val 5000"/>
            </a:avLst>
          </a:prstGeom>
          <a:solidFill>
            <a:srgbClr val="2C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4040" y="1965960"/>
            <a:ext cx="20116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2286000"/>
            <a:ext cx="1554480" cy="5080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2578608"/>
            <a:ext cx="155448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2871216"/>
            <a:ext cx="155448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3163824"/>
            <a:ext cx="155448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3456432"/>
            <a:ext cx="82296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9BC2"/>
                </a:solidFill>
                <a:latin typeface="Avenir Next"/>
              </a:rPr>
              <a:t>NEXGEN INNOVATIONS PRESENTS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venir Next"/>
              </a:rPr>
              <a:t>Nex</a:t>
            </a:r>
            <a:r>
              <a:rPr sz="4400" b="1">
                <a:solidFill>
                  <a:srgbClr val="B9C6FF"/>
                </a:solidFill>
                <a:latin typeface="Avenir Next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74980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PDF generation, built for the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3CCE6"/>
                </a:solidFill>
                <a:latin typeface="Avenir Next"/>
              </a:rPr>
              <a:t>A browser-native template designer, REST API, and self-hosted PDF engine —
without the desktop software, licensing fees, or vendor lock-in.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3776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300" b="1">
                <a:solidFill>
                  <a:srgbClr val="FFFFFF"/>
                </a:solidFill>
                <a:latin typeface="Avenir Next"/>
              </a:rPr>
              <a:t>See it in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F7B9E"/>
                </a:solidFill>
                <a:latin typeface="Avenir Next"/>
              </a:rPr>
              <a:t>nexgeninnovations.com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venir Next"/>
              </a:rPr>
              <a:t>Nex</a:t>
            </a:r>
            <a:r>
              <a:rPr sz="1400" b="1">
                <a:solidFill>
                  <a:srgbClr val="4F6BFF"/>
                </a:solidFill>
                <a:latin typeface="Avenir Next"/>
              </a:rPr>
              <a:t>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6BFF"/>
                </a:solidFill>
                <a:latin typeface="Avenir N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11827"/>
                </a:solidFill>
                <a:latin typeface="Avenir Next"/>
              </a:rPr>
              <a:t>PDF tooling hasn't caught up to how teams actually build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074920" cy="1874519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4864" cy="1874519"/>
          </a:xfrm>
          <a:prstGeom prst="rect">
            <a:avLst/>
          </a:prstGeom>
          <a:solidFill>
            <a:srgbClr val="C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venir Next"/>
              </a:rPr>
              <a:t>Desktop-locked design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4434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Avenir Next"/>
              </a:rPr>
              <a:t>Crystal Reports and JasperReports require Windows servers, Java runtimes, or a remote desktop session just to edit a template.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074920" cy="1874519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54864" cy="1874519"/>
          </a:xfrm>
          <a:prstGeom prst="rect">
            <a:avLst/>
          </a:prstGeom>
          <a:solidFill>
            <a:srgbClr val="C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venir Next"/>
              </a:rPr>
              <a:t>Proprietary, closed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79192"/>
            <a:ext cx="4434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Avenir Next"/>
              </a:rPr>
              <a:t>Templates are saved as binary .rpt or XML .jrxml files tied to one vendor's runtime — migrating means rebuilding from scratch.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5074920" cy="1874519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69080"/>
            <a:ext cx="54864" cy="1874519"/>
          </a:xfrm>
          <a:prstGeom prst="rect">
            <a:avLst/>
          </a:prstGeom>
          <a:solidFill>
            <a:srgbClr val="C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venir Next"/>
              </a:rPr>
              <a:t>Bolted-on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82312"/>
            <a:ext cx="4434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Avenir Next"/>
              </a:rPr>
              <a:t>Connecting these tools to a modern web app or CRM means SDKs, COM interop, or standing up an entire application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69080"/>
            <a:ext cx="5074920" cy="1874519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69080"/>
            <a:ext cx="54864" cy="1874519"/>
          </a:xfrm>
          <a:prstGeom prst="rect">
            <a:avLst/>
          </a:prstGeom>
          <a:solidFill>
            <a:srgbClr val="C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venir Next"/>
              </a:rPr>
              <a:t>Per-seat, per-server licensing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82312"/>
            <a:ext cx="4434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75569"/>
                </a:solidFill>
                <a:latin typeface="Avenir Next"/>
              </a:rPr>
              <a:t>Costs scale with headcount and infrastructure — thousands of dollars before a single PDF 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venir Nex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venir Next"/>
              </a:rPr>
              <a:t>Nex</a:t>
            </a:r>
            <a:r>
              <a:rPr sz="1400" b="1">
                <a:solidFill>
                  <a:srgbClr val="B9C6FF"/>
                </a:solidFill>
                <a:latin typeface="Avenir Next"/>
              </a:rPr>
              <a:t>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C6FF"/>
                </a:solidFill>
                <a:latin typeface="Avenir Nex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FFFFFF"/>
                </a:solidFill>
                <a:latin typeface="Avenir Next"/>
              </a:rPr>
              <a:t>NexPDF: a self-hosted PDF platform that runs entirely in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3CCE6"/>
                </a:solidFill>
                <a:latin typeface="Avenir Next"/>
              </a:rPr>
              <a:t>Design templates, fill forms, collect signatures, and generate PDFs — all through a clean web UI and REST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58775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Live Template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8328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Drag-and-drop field placement in the browser — text, images, tables, barcodes, letterheads. Changes render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33172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5424" y="258775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REST API + Swagger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338328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Every action — create, fill, generate — is a documented HTTP call. Integrate from any stack in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33172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258775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301752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JSON Templates, No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338328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Templates are portable, human-readable JSON. Version them in Git, migrate them anywhere.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" y="455371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834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E-Signatures &amp;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34924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Click-to-place signing, self-attested capture, and a full signature audit trail out of the box.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429768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35424" y="455371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49834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534924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Admin, Designer, and Form Filler roles ship built in — no separate permission system to configure.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4297680"/>
            <a:ext cx="3456432" cy="1783080"/>
          </a:xfrm>
          <a:prstGeom prst="roundRect">
            <a:avLst>
              <a:gd name="adj" fmla="val 8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4553712"/>
            <a:ext cx="292608" cy="292608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49834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Deploy Anywhere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5349240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A9B4D1"/>
                </a:solidFill>
                <a:latin typeface="Avenir Next"/>
              </a:rPr>
              <a:t>Docker, any VPS, or your cloud of choice. No SAP server, no Java app server, no per-seat license.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venir Nex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venir Next"/>
              </a:rPr>
              <a:t>Nex</a:t>
            </a:r>
            <a:r>
              <a:rPr sz="1400" b="1">
                <a:solidFill>
                  <a:srgbClr val="4F6BFF"/>
                </a:solidFill>
                <a:latin typeface="Avenir Next"/>
              </a:rPr>
              <a:t>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6BFF"/>
                </a:solidFill>
                <a:latin typeface="Avenir Next"/>
              </a:rPr>
              <a:t>HOW WE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venir Next"/>
              </a:rPr>
              <a:t>Built for the web. Everyone else wasn't.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71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B9C6FF"/>
                </a:solidFill>
                <a:latin typeface="Avenir Next"/>
              </a:rPr>
              <a:t>NexPDF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78308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Crystal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8308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JasperReports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78308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Adobe Acrobat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10881360" cy="56692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Web-native, no install</a:t>
            </a:r>
          </a:p>
        </p:txBody>
      </p:sp>
      <p:sp>
        <p:nvSpPr>
          <p:cNvPr id="13" name="Oval 12"/>
          <p:cNvSpPr/>
          <p:nvPr/>
        </p:nvSpPr>
        <p:spPr>
          <a:xfrm>
            <a:off x="4672584" y="244144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423160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475569"/>
                </a:solidFill>
                <a:latin typeface="Avenir Next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8984" y="2423160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52928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52928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REST API included</a:t>
            </a:r>
          </a:p>
        </p:txBody>
      </p:sp>
      <p:sp>
        <p:nvSpPr>
          <p:cNvPr id="19" name="Oval 18"/>
          <p:cNvSpPr/>
          <p:nvPr/>
        </p:nvSpPr>
        <p:spPr>
          <a:xfrm>
            <a:off x="4672584" y="300837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990088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99008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475569"/>
                </a:solidFill>
                <a:latin typeface="Avenir Next"/>
              </a:rPr>
              <a:t>extra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8984" y="2990088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19856"/>
            <a:ext cx="10881360" cy="56692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419856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Live browser designer</a:t>
            </a:r>
          </a:p>
        </p:txBody>
      </p:sp>
      <p:sp>
        <p:nvSpPr>
          <p:cNvPr id="25" name="Oval 24"/>
          <p:cNvSpPr/>
          <p:nvPr/>
        </p:nvSpPr>
        <p:spPr>
          <a:xfrm>
            <a:off x="4672584" y="357530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557016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557016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8984" y="3557016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986784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986784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JSON templates (no lock-in)</a:t>
            </a:r>
          </a:p>
        </p:txBody>
      </p:sp>
      <p:sp>
        <p:nvSpPr>
          <p:cNvPr id="31" name="Oval 30"/>
          <p:cNvSpPr/>
          <p:nvPr/>
        </p:nvSpPr>
        <p:spPr>
          <a:xfrm>
            <a:off x="4672584" y="414223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4123944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123944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8984" y="4123944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553712"/>
            <a:ext cx="10881360" cy="56692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553712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Role-based access built in</a:t>
            </a:r>
          </a:p>
        </p:txBody>
      </p:sp>
      <p:sp>
        <p:nvSpPr>
          <p:cNvPr id="37" name="Oval 36"/>
          <p:cNvSpPr/>
          <p:nvPr/>
        </p:nvSpPr>
        <p:spPr>
          <a:xfrm>
            <a:off x="4672584" y="470916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69087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475569"/>
                </a:solidFill>
                <a:latin typeface="Avenir Next"/>
              </a:rPr>
              <a:t>via SAP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690872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475569"/>
                </a:solidFill>
                <a:latin typeface="Avenir Next"/>
              </a:rPr>
              <a:t>complex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984" y="4690872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120640"/>
            <a:ext cx="2971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11827"/>
                </a:solidFill>
                <a:latin typeface="Avenir Next"/>
              </a:rPr>
              <a:t>Self-hosted option</a:t>
            </a:r>
          </a:p>
        </p:txBody>
      </p:sp>
      <p:sp>
        <p:nvSpPr>
          <p:cNvPr id="43" name="Oval 42"/>
          <p:cNvSpPr/>
          <p:nvPr/>
        </p:nvSpPr>
        <p:spPr>
          <a:xfrm>
            <a:off x="4672584" y="527608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4" name="Oval 43"/>
          <p:cNvSpPr/>
          <p:nvPr/>
        </p:nvSpPr>
        <p:spPr>
          <a:xfrm>
            <a:off x="6592824" y="527608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5" name="Oval 44"/>
          <p:cNvSpPr/>
          <p:nvPr/>
        </p:nvSpPr>
        <p:spPr>
          <a:xfrm>
            <a:off x="8513064" y="527608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58984" y="5257800"/>
            <a:ext cx="786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AA3B2"/>
                </a:solidFill>
                <a:latin typeface="Avenir Next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687568"/>
            <a:ext cx="10881360" cy="1905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venir Nex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venir Next"/>
              </a:rPr>
              <a:t>Nex</a:t>
            </a:r>
            <a:r>
              <a:rPr sz="1400" b="1">
                <a:solidFill>
                  <a:srgbClr val="4F6BFF"/>
                </a:solidFill>
                <a:latin typeface="Avenir Next"/>
              </a:rPr>
              <a:t>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6BFF"/>
                </a:solidFill>
                <a:latin typeface="Avenir Next"/>
              </a:rPr>
              <a:t>WHERE NEXPDF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11827"/>
                </a:solidFill>
                <a:latin typeface="Avenir Next"/>
              </a:rPr>
              <a:t>From invoices to contracts, one engine for every document your team 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42032" cy="237744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Avenir Next"/>
              </a:rPr>
              <a:t>ERP &amp;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993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Avenir Next"/>
              </a:rPr>
              <a:t>Trigger invoices, statements, and purchase orders straight from ERP workflows via a single POST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48840"/>
            <a:ext cx="2542032" cy="237744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423160"/>
            <a:ext cx="502920" cy="502920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089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Avenir Next"/>
              </a:rPr>
              <a:t>CRM &amp;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20440"/>
            <a:ext cx="1993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Avenir Next"/>
              </a:rPr>
              <a:t>Generate client-facing proposals, quotes, and contracts populated directly from CRM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48840"/>
            <a:ext cx="2542032" cy="237744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423160"/>
            <a:ext cx="502920" cy="502920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Avenir Next"/>
              </a:rPr>
              <a:t>HR &amp;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1993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Avenir Next"/>
              </a:rPr>
              <a:t>Standardize offer letters, onboarding packets, and internal forms with letterheads and role-gated editing.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48840"/>
            <a:ext cx="2542032" cy="2377440"/>
          </a:xfrm>
          <a:prstGeom prst="roundRect">
            <a:avLst>
              <a:gd name="adj" fmla="val 9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0" y="2423160"/>
            <a:ext cx="502920" cy="502920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08960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827"/>
                </a:solidFill>
                <a:latin typeface="Avenir Next"/>
              </a:rPr>
              <a:t>Legal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20440"/>
            <a:ext cx="1993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Avenir Next"/>
              </a:rPr>
              <a:t>Collect signatures with a full audit trail — signer identity, timestamp, and document hash captured automatically.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0176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C6FF"/>
                </a:solidFill>
                <a:latin typeface="Avenir Next"/>
              </a:rPr>
              <a:t>Deploy anywhere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3095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Avenir Next"/>
              </a:rPr>
              <a:t>Docker  ·  Any Linux VPS  ·  AWS / GCP / Azure  ·  Behind nginx, Caddy, or Traefik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venir Nex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venir Next"/>
              </a:rPr>
              <a:t>Nex</a:t>
            </a:r>
            <a:r>
              <a:rPr sz="1600" b="1">
                <a:solidFill>
                  <a:srgbClr val="B9C6FF"/>
                </a:solidFill>
                <a:latin typeface="Avenir Next"/>
              </a:rPr>
              <a:t>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C6FF"/>
                </a:solidFill>
                <a:latin typeface="Avenir Next"/>
              </a:rPr>
              <a:t>WHY NEXPDF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FFFFF"/>
                </a:solidFill>
                <a:latin typeface="Avenir Next"/>
              </a:rPr>
              <a:t>Built for the web. Priced for the way you'll actually use it.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24328"/>
            <a:ext cx="237744" cy="237744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79552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DE2F2"/>
                </a:solidFill>
                <a:latin typeface="Avenir Next"/>
              </a:rPr>
              <a:t>No installs, no VMs, no remote desktops — your team designs and generates PDFs from any browser.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46120"/>
            <a:ext cx="237744" cy="237744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27832"/>
            <a:ext cx="79552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DE2F2"/>
                </a:solidFill>
                <a:latin typeface="Avenir Next"/>
              </a:rPr>
              <a:t>One REST API for everything: create templates, fill forms, capture signatures, generate PDFs.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67912"/>
            <a:ext cx="237744" cy="237744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49624"/>
            <a:ext cx="79552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DE2F2"/>
                </a:solidFill>
                <a:latin typeface="Avenir Next"/>
              </a:rPr>
              <a:t>Your templates, your data, your infrastructure — self-hosted with zero vendor lock-in.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489704"/>
            <a:ext cx="237744" cy="237744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71416"/>
            <a:ext cx="79552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DDE2F2"/>
                </a:solidFill>
                <a:latin typeface="Avenir Next"/>
              </a:rPr>
              <a:t>Role-based access and a full signature audit trail included, not sold as an add-on.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49240"/>
            <a:ext cx="7772400" cy="96012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51383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Ready to see NexPDF on your documents?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8795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6FF"/>
                </a:solidFill>
                <a:latin typeface="Avenir Next"/>
              </a:rPr>
              <a:t>nexgeninnovations.com/contact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577840"/>
            <a:ext cx="1874519" cy="502920"/>
          </a:xfrm>
          <a:prstGeom prst="roundRect">
            <a:avLst>
              <a:gd name="adj" fmla="val 50000"/>
            </a:avLst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250" b="1">
                <a:solidFill>
                  <a:srgbClr val="FFFFFF"/>
                </a:solidFill>
                <a:latin typeface="Avenir Next"/>
              </a:rPr>
              <a:t>Book a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4572000"/>
            <a:ext cx="1554480" cy="1965960"/>
          </a:xfrm>
          <a:prstGeom prst="roundRect">
            <a:avLst>
              <a:gd name="adj" fmla="val 6000"/>
            </a:avLst>
          </a:prstGeom>
          <a:solidFill>
            <a:srgbClr val="2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4434840"/>
            <a:ext cx="15544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66960" y="4709160"/>
            <a:ext cx="1188720" cy="5080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4983480"/>
            <a:ext cx="118872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5257800"/>
            <a:ext cx="118872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5532120"/>
            <a:ext cx="640080" cy="50800"/>
          </a:xfrm>
          <a:prstGeom prst="rect">
            <a:avLst/>
          </a:prstGeom>
          <a:solidFill>
            <a:srgbClr val="E2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Avenir Nex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